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71" r:id="rId7"/>
    <p:sldId id="273" r:id="rId8"/>
    <p:sldId id="285" r:id="rId9"/>
    <p:sldId id="286" r:id="rId10"/>
    <p:sldId id="287" r:id="rId11"/>
    <p:sldId id="289" r:id="rId12"/>
    <p:sldId id="290" r:id="rId13"/>
    <p:sldId id="291" r:id="rId14"/>
    <p:sldId id="293" r:id="rId15"/>
    <p:sldId id="295" r:id="rId16"/>
    <p:sldId id="296" r:id="rId17"/>
    <p:sldId id="294" r:id="rId18"/>
    <p:sldId id="270" r:id="rId19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Google Shape;3;n">
            <a:extLst>
              <a:ext uri="{FF2B5EF4-FFF2-40B4-BE49-F238E27FC236}">
                <a16:creationId xmlns:a16="http://schemas.microsoft.com/office/drawing/2014/main" id="{27E1C9F4-0DE3-69C0-1943-AE2A4301DF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309676800 w 120000"/>
              <a:gd name="T3" fmla="*/ 0 h 120000"/>
              <a:gd name="T4" fmla="*/ 3096768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5" name="Google Shape;4;n">
            <a:extLst>
              <a:ext uri="{FF2B5EF4-FFF2-40B4-BE49-F238E27FC236}">
                <a16:creationId xmlns:a16="http://schemas.microsoft.com/office/drawing/2014/main" id="{035D3BBE-4257-5C28-A89F-4EA33880AAA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914400" lvl="1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371600" lvl="2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828800" lvl="3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286000" lvl="4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51;p1:notes">
            <a:extLst>
              <a:ext uri="{FF2B5EF4-FFF2-40B4-BE49-F238E27FC236}">
                <a16:creationId xmlns:a16="http://schemas.microsoft.com/office/drawing/2014/main" id="{12655B69-44EF-CF8A-C799-2F53488BA5A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5123" name="Google Shape;52;p1:notes">
            <a:extLst>
              <a:ext uri="{FF2B5EF4-FFF2-40B4-BE49-F238E27FC236}">
                <a16:creationId xmlns:a16="http://schemas.microsoft.com/office/drawing/2014/main" id="{82950AC1-421B-AC83-768B-67915B22176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Google Shape;67;p3:notes">
            <a:extLst>
              <a:ext uri="{FF2B5EF4-FFF2-40B4-BE49-F238E27FC236}">
                <a16:creationId xmlns:a16="http://schemas.microsoft.com/office/drawing/2014/main" id="{5E1F922F-9C8E-8248-1D56-657F1838403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9219" name="Google Shape;68;p3:notes">
            <a:extLst>
              <a:ext uri="{FF2B5EF4-FFF2-40B4-BE49-F238E27FC236}">
                <a16:creationId xmlns:a16="http://schemas.microsoft.com/office/drawing/2014/main" id="{8470F248-AF41-19DD-02E1-793CC086ADC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75;p4:notes">
            <a:extLst>
              <a:ext uri="{FF2B5EF4-FFF2-40B4-BE49-F238E27FC236}">
                <a16:creationId xmlns:a16="http://schemas.microsoft.com/office/drawing/2014/main" id="{4253611B-05C5-3131-9542-24E5389B88F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7" name="Google Shape;76;p4:notes">
            <a:extLst>
              <a:ext uri="{FF2B5EF4-FFF2-40B4-BE49-F238E27FC236}">
                <a16:creationId xmlns:a16="http://schemas.microsoft.com/office/drawing/2014/main" id="{BFEDC7CB-8399-48F1-6F50-55267CE1A3E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83;p5:notes">
            <a:extLst>
              <a:ext uri="{FF2B5EF4-FFF2-40B4-BE49-F238E27FC236}">
                <a16:creationId xmlns:a16="http://schemas.microsoft.com/office/drawing/2014/main" id="{62B277A8-56F6-6E89-BBE2-68C9CBACE94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3315" name="Google Shape;84;p5:notes">
            <a:extLst>
              <a:ext uri="{FF2B5EF4-FFF2-40B4-BE49-F238E27FC236}">
                <a16:creationId xmlns:a16="http://schemas.microsoft.com/office/drawing/2014/main" id="{E85C48A7-E3EE-E0A0-F777-E64056F9901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Google Shape;109;g10ee548d508766c7_0:notes">
            <a:extLst>
              <a:ext uri="{FF2B5EF4-FFF2-40B4-BE49-F238E27FC236}">
                <a16:creationId xmlns:a16="http://schemas.microsoft.com/office/drawing/2014/main" id="{6A1FCC1A-652E-15A1-AE65-B2387D08526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5363" name="Google Shape;110;g10ee548d508766c7_0:notes">
            <a:extLst>
              <a:ext uri="{FF2B5EF4-FFF2-40B4-BE49-F238E27FC236}">
                <a16:creationId xmlns:a16="http://schemas.microsoft.com/office/drawing/2014/main" id="{E2F5AB6B-36CF-9D03-9C63-96030F27258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309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73B42-D953-0388-C4BD-7CA36E993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9F412-2DBD-ED3A-464C-3F452B29E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0BCFF2-7309-B9E3-912C-2B290B0FC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5086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3B0F1-74E0-E697-4050-033710790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51AAD2-8245-A1DE-035A-CAC04EBF3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51D0FD-1833-860C-CDFC-A53A14F76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07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81;p13:notes">
            <a:extLst>
              <a:ext uri="{FF2B5EF4-FFF2-40B4-BE49-F238E27FC236}">
                <a16:creationId xmlns:a16="http://schemas.microsoft.com/office/drawing/2014/main" id="{E55BE681-A565-1026-675B-ECFE52A5482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3795" name="Google Shape;182;p13:notes">
            <a:extLst>
              <a:ext uri="{FF2B5EF4-FFF2-40B4-BE49-F238E27FC236}">
                <a16:creationId xmlns:a16="http://schemas.microsoft.com/office/drawing/2014/main" id="{521E1B5C-42C2-B5D1-32F0-315D6CF3177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" name="Google Shape;8;p14">
            <a:extLst>
              <a:ext uri="{FF2B5EF4-FFF2-40B4-BE49-F238E27FC236}">
                <a16:creationId xmlns:a16="http://schemas.microsoft.com/office/drawing/2014/main" id="{A6D1C7F9-666B-F92C-87D5-B969DD3D64A0}"/>
              </a:ext>
            </a:extLst>
          </p:cNvPr>
          <p:cNvSpPr txBox="1">
            <a:spLocks noGrp="1" noChangeArrowheads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CA1CC-9DCE-4820-A676-3BFBA7FEEC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3255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8;p14">
            <a:extLst>
              <a:ext uri="{FF2B5EF4-FFF2-40B4-BE49-F238E27FC236}">
                <a16:creationId xmlns:a16="http://schemas.microsoft.com/office/drawing/2014/main" id="{4C184591-9830-D96D-32C5-9FF7E3C906AE}"/>
              </a:ext>
            </a:extLst>
          </p:cNvPr>
          <p:cNvSpPr txBox="1">
            <a:spLocks noGrp="1" noChangeArrowheads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F46F23-1059-4F5C-A404-CE4E0E11F4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2221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;p14">
            <a:extLst>
              <a:ext uri="{FF2B5EF4-FFF2-40B4-BE49-F238E27FC236}">
                <a16:creationId xmlns:a16="http://schemas.microsoft.com/office/drawing/2014/main" id="{E93A6BF3-32CA-8799-063D-29CE407AC82B}"/>
              </a:ext>
            </a:extLst>
          </p:cNvPr>
          <p:cNvSpPr txBox="1">
            <a:spLocks noGrp="1" noChangeArrowheads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A4DA94-6B25-4E14-9C58-8693194DB7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9970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anchor="ctr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" name="Google Shape;8;p14">
            <a:extLst>
              <a:ext uri="{FF2B5EF4-FFF2-40B4-BE49-F238E27FC236}">
                <a16:creationId xmlns:a16="http://schemas.microsoft.com/office/drawing/2014/main" id="{594C4E96-0B23-4BA3-8178-41F53BCFC437}"/>
              </a:ext>
            </a:extLst>
          </p:cNvPr>
          <p:cNvSpPr txBox="1">
            <a:spLocks noGrp="1" noChangeArrowheads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E30A8-1542-4CED-8625-57A55D82E1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882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" name="Google Shape;8;p14">
            <a:extLst>
              <a:ext uri="{FF2B5EF4-FFF2-40B4-BE49-F238E27FC236}">
                <a16:creationId xmlns:a16="http://schemas.microsoft.com/office/drawing/2014/main" id="{B54E69C8-7BC0-BF6F-1F58-D47AF08EF33B}"/>
              </a:ext>
            </a:extLst>
          </p:cNvPr>
          <p:cNvSpPr txBox="1">
            <a:spLocks noGrp="1" noChangeArrowheads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E23ACB-C173-4DBD-8318-FDA946BD6E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4652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Google Shape;8;p14">
            <a:extLst>
              <a:ext uri="{FF2B5EF4-FFF2-40B4-BE49-F238E27FC236}">
                <a16:creationId xmlns:a16="http://schemas.microsoft.com/office/drawing/2014/main" id="{938D741C-AB68-1AAA-E5E3-354C1438F020}"/>
              </a:ext>
            </a:extLst>
          </p:cNvPr>
          <p:cNvSpPr txBox="1">
            <a:spLocks noGrp="1" noChangeArrowheads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9390D0-86F8-4D67-ACC0-43E857C250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8601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" name="Google Shape;8;p14">
            <a:extLst>
              <a:ext uri="{FF2B5EF4-FFF2-40B4-BE49-F238E27FC236}">
                <a16:creationId xmlns:a16="http://schemas.microsoft.com/office/drawing/2014/main" id="{64958339-CE9F-D46F-9AD1-CE7028228C36}"/>
              </a:ext>
            </a:extLst>
          </p:cNvPr>
          <p:cNvSpPr txBox="1">
            <a:spLocks noGrp="1" noChangeArrowheads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E5DFB1-04E2-4C3D-AA58-2922CB3FC8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3980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anchor="ctr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" name="Google Shape;8;p14">
            <a:extLst>
              <a:ext uri="{FF2B5EF4-FFF2-40B4-BE49-F238E27FC236}">
                <a16:creationId xmlns:a16="http://schemas.microsoft.com/office/drawing/2014/main" id="{EF3C2326-7BA1-7A64-3EC8-26CF21FF789C}"/>
              </a:ext>
            </a:extLst>
          </p:cNvPr>
          <p:cNvSpPr txBox="1">
            <a:spLocks noGrp="1" noChangeArrowheads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16BBBF-7E9B-4D51-AADA-EBED6D3ADE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2446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8;p23">
            <a:extLst>
              <a:ext uri="{FF2B5EF4-FFF2-40B4-BE49-F238E27FC236}">
                <a16:creationId xmlns:a16="http://schemas.microsoft.com/office/drawing/2014/main" id="{7B8336BD-989E-279B-31FC-27924F005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400"/>
              <a:defRPr/>
            </a:pPr>
            <a:endParaRPr lang="en-US" altLang="en-US"/>
          </a:p>
        </p:txBody>
      </p:sp>
      <p:sp>
        <p:nvSpPr>
          <p:cNvPr id="39" name="Google Shape;39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anchor="ctr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" name="Google Shape;42;p23">
            <a:extLst>
              <a:ext uri="{FF2B5EF4-FFF2-40B4-BE49-F238E27FC236}">
                <a16:creationId xmlns:a16="http://schemas.microsoft.com/office/drawing/2014/main" id="{EE35881F-6512-6934-731B-B0889B38B104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5B940-579F-4D8D-81FD-06664CF032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8654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anchor="ctr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" name="Google Shape;8;p14">
            <a:extLst>
              <a:ext uri="{FF2B5EF4-FFF2-40B4-BE49-F238E27FC236}">
                <a16:creationId xmlns:a16="http://schemas.microsoft.com/office/drawing/2014/main" id="{5347C8E2-9000-355B-B0E3-283E04F0BD79}"/>
              </a:ext>
            </a:extLst>
          </p:cNvPr>
          <p:cNvSpPr txBox="1">
            <a:spLocks noGrp="1" noChangeArrowheads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5DA426-3EF9-4427-ACE2-868B87A4AB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073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5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8;p14">
            <a:extLst>
              <a:ext uri="{FF2B5EF4-FFF2-40B4-BE49-F238E27FC236}">
                <a16:creationId xmlns:a16="http://schemas.microsoft.com/office/drawing/2014/main" id="{50D27062-13F2-CA68-94EB-F1B9D53A11E7}"/>
              </a:ext>
            </a:extLst>
          </p:cNvPr>
          <p:cNvSpPr txBox="1">
            <a:spLocks noGrp="1" noChangeArrowheads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32CA72-9229-4882-A811-7BE5F90AC0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6532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4">
            <a:extLst>
              <a:ext uri="{FF2B5EF4-FFF2-40B4-BE49-F238E27FC236}">
                <a16:creationId xmlns:a16="http://schemas.microsoft.com/office/drawing/2014/main" id="{42709234-BA0F-9BB6-F356-EF319932BBC4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11150" y="444500"/>
            <a:ext cx="85217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7" name="Google Shape;7;p14">
            <a:extLst>
              <a:ext uri="{FF2B5EF4-FFF2-40B4-BE49-F238E27FC236}">
                <a16:creationId xmlns:a16="http://schemas.microsoft.com/office/drawing/2014/main" id="{FF237FF1-D2BE-C7BB-AA95-2A699FF2891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8" name="Google Shape;8;p14">
            <a:extLst>
              <a:ext uri="{FF2B5EF4-FFF2-40B4-BE49-F238E27FC236}">
                <a16:creationId xmlns:a16="http://schemas.microsoft.com/office/drawing/2014/main" id="{F6034553-D710-2EB2-3C23-26844C281199}"/>
              </a:ext>
            </a:extLst>
          </p:cNvPr>
          <p:cNvSpPr txBox="1">
            <a:spLocks noGrp="1" noChangeArrowheads="1"/>
          </p:cNvSpPr>
          <p:nvPr>
            <p:ph type="sldNum" idx="12"/>
          </p:nvPr>
        </p:nvSpPr>
        <p:spPr bwMode="auto">
          <a:xfrm>
            <a:off x="8472488" y="4662488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ts val="1000"/>
              <a:buFont typeface="Arial" panose="020B0604020202020204" pitchFamily="34" charset="0"/>
              <a:buNone/>
              <a:defRPr sz="1000">
                <a:solidFill>
                  <a:srgbClr val="595959"/>
                </a:solidFill>
              </a:defRPr>
            </a:lvl1pPr>
          </a:lstStyle>
          <a:p>
            <a:pPr>
              <a:defRPr/>
            </a:pPr>
            <a:fld id="{25245C10-F3E6-4020-B7E9-D4C62D6B5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5" r:id="rId9"/>
    <p:sldLayoutId id="2147483693" r:id="rId10"/>
    <p:sldLayoutId id="214748369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Google Shape;54;p1">
            <a:extLst>
              <a:ext uri="{FF2B5EF4-FFF2-40B4-BE49-F238E27FC236}">
                <a16:creationId xmlns:a16="http://schemas.microsoft.com/office/drawing/2014/main" id="{CD6F0E55-7A1A-FA4E-698C-8C80329AD9B2}"/>
              </a:ext>
            </a:extLst>
          </p:cNvPr>
          <p:cNvSpPr txBox="1">
            <a:spLocks noGrp="1" noChangeArrowheads="1"/>
          </p:cNvSpPr>
          <p:nvPr>
            <p:ph type="subTitle" idx="1"/>
          </p:nvPr>
        </p:nvSpPr>
        <p:spPr>
          <a:xfrm>
            <a:off x="311150" y="1830388"/>
            <a:ext cx="8521700" cy="1014412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595959"/>
              </a:buClr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AI-Based Personalized Skill-Gap Learning Planner</a:t>
            </a:r>
            <a:endParaRPr lang="en-US" altLang="en-US" sz="3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9" name="Google Shape;56;p1">
            <a:extLst>
              <a:ext uri="{FF2B5EF4-FFF2-40B4-BE49-F238E27FC236}">
                <a16:creationId xmlns:a16="http://schemas.microsoft.com/office/drawing/2014/main" id="{840608C2-40D1-A138-4236-9FB3BCFEB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809" y="2950532"/>
            <a:ext cx="4118827" cy="461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800"/>
            </a:pPr>
            <a:r>
              <a:rPr lang="en-US" altLang="en-US" sz="1800" b="1" dirty="0">
                <a:solidFill>
                  <a:srgbClr val="0B5394"/>
                </a:solidFill>
              </a:rPr>
              <a:t>PRESENTED BY</a:t>
            </a:r>
            <a:endParaRPr lang="en-US" altLang="en-US" sz="1800" dirty="0">
              <a:solidFill>
                <a:srgbClr val="0B5394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4100" name="Google Shape;57;p1">
            <a:extLst>
              <a:ext uri="{FF2B5EF4-FFF2-40B4-BE49-F238E27FC236}">
                <a16:creationId xmlns:a16="http://schemas.microsoft.com/office/drawing/2014/main" id="{F5AF4DA6-ACA9-58C6-A165-D812A40E453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00" y="379413"/>
            <a:ext cx="8001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1" descr="KRCT">
            <a:extLst>
              <a:ext uri="{FF2B5EF4-FFF2-40B4-BE49-F238E27FC236}">
                <a16:creationId xmlns:a16="http://schemas.microsoft.com/office/drawing/2014/main" id="{A5963C82-5282-3AAA-C6BD-55169C0F1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3" y="179388"/>
            <a:ext cx="4751387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Google Shape;56;p1">
            <a:extLst>
              <a:ext uri="{FF2B5EF4-FFF2-40B4-BE49-F238E27FC236}">
                <a16:creationId xmlns:a16="http://schemas.microsoft.com/office/drawing/2014/main" id="{C0DB63F8-380D-18EF-4B50-CE4BEC9AC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8050" y="3365500"/>
            <a:ext cx="4327525" cy="1015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800"/>
            </a:pPr>
            <a:endParaRPr lang="en-US" altLang="en-US" sz="1800" b="1" dirty="0">
              <a:solidFill>
                <a:srgbClr val="0B5394"/>
              </a:solidFill>
              <a:cs typeface="Calibri" panose="020F0502020204030204" pitchFamily="34" charset="0"/>
            </a:endParaRPr>
          </a:p>
          <a:p>
            <a:pPr algn="ctr" eaLnBrk="1" hangingPunct="1">
              <a:buSzPts val="1800"/>
            </a:pPr>
            <a:endParaRPr lang="en-US" altLang="en-US" sz="1800" b="1" dirty="0">
              <a:solidFill>
                <a:srgbClr val="0B5394"/>
              </a:solidFill>
              <a:cs typeface="Calibri" panose="020F0502020204030204" pitchFamily="34" charset="0"/>
            </a:endParaRPr>
          </a:p>
          <a:p>
            <a:pPr algn="ctr" eaLnBrk="1" hangingPunct="1">
              <a:buSzPts val="1800"/>
            </a:pPr>
            <a:endParaRPr lang="en-US" altLang="en-US" sz="1800" b="1" dirty="0">
              <a:solidFill>
                <a:srgbClr val="0B5394"/>
              </a:solidFill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682AD19-92E2-622D-40FE-4DE5E208B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512500"/>
              </p:ext>
            </p:extLst>
          </p:nvPr>
        </p:nvGraphicFramePr>
        <p:xfrm>
          <a:off x="548809" y="3365500"/>
          <a:ext cx="4096216" cy="1222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8108">
                  <a:extLst>
                    <a:ext uri="{9D8B030D-6E8A-4147-A177-3AD203B41FA5}">
                      <a16:colId xmlns:a16="http://schemas.microsoft.com/office/drawing/2014/main" val="3220222086"/>
                    </a:ext>
                  </a:extLst>
                </a:gridCol>
                <a:gridCol w="2048108">
                  <a:extLst>
                    <a:ext uri="{9D8B030D-6E8A-4147-A177-3AD203B41FA5}">
                      <a16:colId xmlns:a16="http://schemas.microsoft.com/office/drawing/2014/main" val="2474944216"/>
                    </a:ext>
                  </a:extLst>
                </a:gridCol>
              </a:tblGrid>
              <a:tr h="30553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RENGANAYAKI 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2403811724322091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978525"/>
                  </a:ext>
                </a:extLst>
              </a:tr>
              <a:tr h="30553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ROHIT KRISHNA J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2403811724321095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478806"/>
                  </a:ext>
                </a:extLst>
              </a:tr>
              <a:tr h="30553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SANTHOSH KUMAR 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2403811724321098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57804"/>
                  </a:ext>
                </a:extLst>
              </a:tr>
              <a:tr h="30553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SELVARANI 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2403811724322103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6490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Google Shape;70;p3">
            <a:extLst>
              <a:ext uri="{FF2B5EF4-FFF2-40B4-BE49-F238E27FC236}">
                <a16:creationId xmlns:a16="http://schemas.microsoft.com/office/drawing/2014/main" id="{6917CF48-2DF6-58FB-FD42-252E7CC8E48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Google Shape;71;p3">
            <a:extLst>
              <a:ext uri="{FF2B5EF4-FFF2-40B4-BE49-F238E27FC236}">
                <a16:creationId xmlns:a16="http://schemas.microsoft.com/office/drawing/2014/main" id="{56905904-5ADA-36A5-1749-4C8AFBFF400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00" y="0"/>
            <a:ext cx="825500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Google Shape;72;p3">
            <a:extLst>
              <a:ext uri="{FF2B5EF4-FFF2-40B4-BE49-F238E27FC236}">
                <a16:creationId xmlns:a16="http://schemas.microsoft.com/office/drawing/2014/main" id="{407C766F-E488-961C-B6E4-8F2C4E761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125" y="120650"/>
            <a:ext cx="6269038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2400"/>
            </a:pPr>
            <a:r>
              <a:rPr lang="en-US" altLang="en-US" sz="2400" b="1" dirty="0">
                <a:solidFill>
                  <a:srgbClr val="990000"/>
                </a:solidFill>
              </a:rPr>
              <a:t>PROBLEM STATEMENT</a:t>
            </a:r>
            <a:endParaRPr lang="en-US" altLang="en-US" sz="240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197" name="TextBox 2">
            <a:extLst>
              <a:ext uri="{FF2B5EF4-FFF2-40B4-BE49-F238E27FC236}">
                <a16:creationId xmlns:a16="http://schemas.microsoft.com/office/drawing/2014/main" id="{CF2C6157-7ABF-F3F1-01EA-A4699918F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576" y="1106824"/>
            <a:ext cx="8033350" cy="384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6858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face difficulties in identifying career-required skills, assessing their existing skills, and recognizing skill gaps. </a:t>
            </a:r>
          </a:p>
          <a:p>
            <a:pPr marL="6858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platforms lack a fully personalized learning sequence, requiring a system that integrates learning resources and generates an optimized learning path based on individual skill gaps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858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6858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78;p4">
            <a:extLst>
              <a:ext uri="{FF2B5EF4-FFF2-40B4-BE49-F238E27FC236}">
                <a16:creationId xmlns:a16="http://schemas.microsoft.com/office/drawing/2014/main" id="{EC2CDDF2-3491-C158-0E84-7DFFE8F11D2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017713" y="444500"/>
            <a:ext cx="4422775" cy="708025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endParaRPr lang="en-US" altLang="en-US" sz="2800">
              <a:solidFill>
                <a:srgbClr val="99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3" name="Google Shape;80;p4">
            <a:extLst>
              <a:ext uri="{FF2B5EF4-FFF2-40B4-BE49-F238E27FC236}">
                <a16:creationId xmlns:a16="http://schemas.microsoft.com/office/drawing/2014/main" id="{383CD0E8-5920-1E81-811F-835CED01883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Google Shape;81;p4">
            <a:extLst>
              <a:ext uri="{FF2B5EF4-FFF2-40B4-BE49-F238E27FC236}">
                <a16:creationId xmlns:a16="http://schemas.microsoft.com/office/drawing/2014/main" id="{740CDBBB-3384-B71D-B01E-3200E3A7F9E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00" y="0"/>
            <a:ext cx="825500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Text Placeholder 2">
            <a:extLst>
              <a:ext uri="{FF2B5EF4-FFF2-40B4-BE49-F238E27FC236}">
                <a16:creationId xmlns:a16="http://schemas.microsoft.com/office/drawing/2014/main" id="{134F2D51-9522-D6CF-D7A5-49D9ACB6B78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1039697" y="1223227"/>
            <a:ext cx="7355077" cy="34163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career-specific technical skills.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assess the student's existing skills.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missing skills through skill-gap analysis.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the student's career readiness percentage.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the student's learning progress.</a:t>
            </a:r>
          </a:p>
          <a:p>
            <a:pPr marL="114300" indent="0" eaLnBrk="1" hangingPunct="1"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None/>
            </a:pPr>
            <a:endParaRPr lang="en-IN" altLang="en-US" sz="2200" dirty="0">
              <a:solidFill>
                <a:srgbClr val="59595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Google Shape;86;p5">
            <a:extLst>
              <a:ext uri="{FF2B5EF4-FFF2-40B4-BE49-F238E27FC236}">
                <a16:creationId xmlns:a16="http://schemas.microsoft.com/office/drawing/2014/main" id="{D7339FDF-91C9-199F-8ED7-09F0D223706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Google Shape;87;p5">
            <a:extLst>
              <a:ext uri="{FF2B5EF4-FFF2-40B4-BE49-F238E27FC236}">
                <a16:creationId xmlns:a16="http://schemas.microsoft.com/office/drawing/2014/main" id="{1E4D5C96-EB09-12A5-B52A-855E9D7ADEAB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00" y="0"/>
            <a:ext cx="825500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Google Shape;88;p5">
            <a:extLst>
              <a:ext uri="{FF2B5EF4-FFF2-40B4-BE49-F238E27FC236}">
                <a16:creationId xmlns:a16="http://schemas.microsoft.com/office/drawing/2014/main" id="{E19BCBD3-7FF9-FDE8-8E29-C55FD0C22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225" y="120650"/>
            <a:ext cx="4464050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2400"/>
            </a:pPr>
            <a:r>
              <a:rPr lang="en-US" altLang="en-US" sz="2400" b="1" dirty="0">
                <a:solidFill>
                  <a:srgbClr val="990000"/>
                </a:solidFill>
              </a:rPr>
              <a:t>LITERATURE SURVEY</a:t>
            </a:r>
            <a:endParaRPr lang="en-US" altLang="en-US" sz="240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12293" name="Google Shape;103;p5">
            <a:extLst>
              <a:ext uri="{FF2B5EF4-FFF2-40B4-BE49-F238E27FC236}">
                <a16:creationId xmlns:a16="http://schemas.microsoft.com/office/drawing/2014/main" id="{866EFE1E-E4F3-8FDA-FFD5-6AE60956C4F8}"/>
              </a:ext>
            </a:extLst>
          </p:cNvPr>
          <p:cNvCxnSpPr>
            <a:cxnSpLocks/>
          </p:cNvCxnSpPr>
          <p:nvPr/>
        </p:nvCxnSpPr>
        <p:spPr bwMode="auto">
          <a:xfrm>
            <a:off x="4464050" y="3752850"/>
            <a:ext cx="0" cy="0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294" name="Google Shape;106;p5">
            <a:extLst>
              <a:ext uri="{FF2B5EF4-FFF2-40B4-BE49-F238E27FC236}">
                <a16:creationId xmlns:a16="http://schemas.microsoft.com/office/drawing/2014/main" id="{C16043FC-0473-9FCF-1D5F-4981C5E3E908}"/>
              </a:ext>
            </a:extLst>
          </p:cNvPr>
          <p:cNvCxnSpPr>
            <a:cxnSpLocks/>
          </p:cNvCxnSpPr>
          <p:nvPr/>
        </p:nvCxnSpPr>
        <p:spPr bwMode="auto">
          <a:xfrm>
            <a:off x="4464050" y="3752850"/>
            <a:ext cx="0" cy="0"/>
          </a:xfrm>
          <a:prstGeom prst="straightConnector1">
            <a:avLst/>
          </a:prstGeom>
          <a:noFill/>
          <a:ln w="28575">
            <a:solidFill>
              <a:schemeClr val="bg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295" name="Google Shape;107;p5">
            <a:extLst>
              <a:ext uri="{FF2B5EF4-FFF2-40B4-BE49-F238E27FC236}">
                <a16:creationId xmlns:a16="http://schemas.microsoft.com/office/drawing/2014/main" id="{2D67BAE6-AC35-C94F-4155-5649EC90286B}"/>
              </a:ext>
            </a:extLst>
          </p:cNvPr>
          <p:cNvCxnSpPr>
            <a:cxnSpLocks/>
          </p:cNvCxnSpPr>
          <p:nvPr/>
        </p:nvCxnSpPr>
        <p:spPr bwMode="auto">
          <a:xfrm>
            <a:off x="5702300" y="4335463"/>
            <a:ext cx="0" cy="0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75A3898-A8CB-41C4-9300-AF1F25B8F3CE}"/>
              </a:ext>
            </a:extLst>
          </p:cNvPr>
          <p:cNvSpPr txBox="1"/>
          <p:nvPr/>
        </p:nvSpPr>
        <p:spPr>
          <a:xfrm>
            <a:off x="1353015" y="1494263"/>
            <a:ext cx="61926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https://docs.google.com/spreadsheets/d/1khbUJvwRU88kzro2bLubuzCfsCb7C7yEehYhB338Mrw/edit?usp=sharing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Google Shape;112;g10ee548d508766c7_0">
            <a:extLst>
              <a:ext uri="{FF2B5EF4-FFF2-40B4-BE49-F238E27FC236}">
                <a16:creationId xmlns:a16="http://schemas.microsoft.com/office/drawing/2014/main" id="{D04DE619-12D9-72D6-308C-28BDA23EA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120650"/>
            <a:ext cx="9067800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2400"/>
            </a:pPr>
            <a:r>
              <a:rPr lang="en-US" altLang="en-US" sz="2400" b="1" dirty="0">
                <a:solidFill>
                  <a:srgbClr val="990000"/>
                </a:solidFill>
              </a:rPr>
              <a:t>EXISTING SYSTEM</a:t>
            </a:r>
            <a:endParaRPr lang="en-US" altLang="en-US" sz="240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14339" name="Google Shape;113;g10ee548d508766c7_0">
            <a:extLst>
              <a:ext uri="{FF2B5EF4-FFF2-40B4-BE49-F238E27FC236}">
                <a16:creationId xmlns:a16="http://schemas.microsoft.com/office/drawing/2014/main" id="{E4735DDB-52A5-9AB1-999F-114C1E97CFF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Google Shape;114;g10ee548d508766c7_0">
            <a:extLst>
              <a:ext uri="{FF2B5EF4-FFF2-40B4-BE49-F238E27FC236}">
                <a16:creationId xmlns:a16="http://schemas.microsoft.com/office/drawing/2014/main" id="{A943AC94-7632-78C5-D937-5906AB7944D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00" y="0"/>
            <a:ext cx="825500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TextBox 2">
            <a:extLst>
              <a:ext uri="{FF2B5EF4-FFF2-40B4-BE49-F238E27FC236}">
                <a16:creationId xmlns:a16="http://schemas.microsoft.com/office/drawing/2014/main" id="{AC0B2042-D1EA-19EF-F2A6-49955B164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71" y="1203468"/>
            <a:ext cx="7954536" cy="2062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73050" indent="-2730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learning system mainly relies on general online courses, tutorials, and learning platforms.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often require students to manually identify their skill gaps and select suitable learning resources.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8E32F-94C9-1EA1-268A-9E5031CAC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276225"/>
            <a:ext cx="8521700" cy="573088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buClr>
                <a:schemeClr val="dk1"/>
              </a:buClr>
              <a:buFont typeface="Arial"/>
              <a:buNone/>
              <a:defRPr/>
            </a:pPr>
            <a:r>
              <a:rPr lang="en-IN" sz="2800" b="1" dirty="0">
                <a:solidFill>
                  <a:srgbClr val="990000"/>
                </a:solidFill>
                <a:sym typeface="Arial"/>
              </a:rPr>
              <a:t>SYSTEM ARCHITECTURE</a:t>
            </a:r>
            <a:endParaRPr lang="en-IN" sz="28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16387" name="Text Placeholder 2">
            <a:extLst>
              <a:ext uri="{FF2B5EF4-FFF2-40B4-BE49-F238E27FC236}">
                <a16:creationId xmlns:a16="http://schemas.microsoft.com/office/drawing/2014/main" id="{E0B58AA5-40C7-A42C-A684-C688F1449A1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401638" y="973718"/>
            <a:ext cx="8521700" cy="3416300"/>
          </a:xfrm>
        </p:spPr>
        <p:txBody>
          <a:bodyPr>
            <a:normAutofit fontScale="25000" lnSpcReduction="20000"/>
          </a:bodyPr>
          <a:lstStyle/>
          <a:p>
            <a:pPr marL="0" indent="0" algn="just" eaLnBrk="1" hangingPunct="1">
              <a:lnSpc>
                <a:spcPct val="170000"/>
              </a:lnSpc>
              <a:spcBef>
                <a:spcPts val="600"/>
              </a:spcBef>
              <a:spcAft>
                <a:spcPct val="0"/>
              </a:spcAft>
              <a:buClr>
                <a:srgbClr val="727CA3"/>
              </a:buClr>
              <a:buSzPct val="76000"/>
              <a:buFont typeface="Arial" panose="020B0604020202020204" pitchFamily="34" charset="0"/>
              <a:buNone/>
              <a:defRPr/>
            </a:pPr>
            <a:endParaRPr lang="en-US" sz="7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70000"/>
              </a:lnSpc>
              <a:spcBef>
                <a:spcPts val="600"/>
              </a:spcBef>
              <a:spcAft>
                <a:spcPct val="0"/>
              </a:spcAft>
              <a:buClr>
                <a:srgbClr val="727CA3"/>
              </a:buClr>
              <a:buSzPct val="76000"/>
              <a:buFont typeface="Arial" panose="020B0604020202020204" pitchFamily="34" charset="0"/>
              <a:buNone/>
              <a:defRPr/>
            </a:pPr>
            <a:endParaRPr lang="en-US" sz="7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70000"/>
              </a:lnSpc>
              <a:spcBef>
                <a:spcPts val="600"/>
              </a:spcBef>
              <a:spcAft>
                <a:spcPct val="0"/>
              </a:spcAft>
              <a:buClr>
                <a:srgbClr val="727CA3"/>
              </a:buClr>
              <a:buSzPct val="76000"/>
              <a:buFont typeface="Arial" panose="020B0604020202020204" pitchFamily="34" charset="0"/>
              <a:buNone/>
              <a:defRPr/>
            </a:pPr>
            <a:endParaRPr lang="en-US" sz="7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70000"/>
              </a:lnSpc>
              <a:spcBef>
                <a:spcPts val="600"/>
              </a:spcBef>
              <a:spcAft>
                <a:spcPct val="0"/>
              </a:spcAft>
              <a:buClr>
                <a:srgbClr val="727CA3"/>
              </a:buClr>
              <a:buSzPct val="76000"/>
              <a:buFont typeface="Arial" panose="020B0604020202020204" pitchFamily="34" charset="0"/>
              <a:buNone/>
              <a:defRPr/>
            </a:pPr>
            <a:endParaRPr lang="en-US" sz="7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70000"/>
              </a:lnSpc>
              <a:spcBef>
                <a:spcPts val="600"/>
              </a:spcBef>
              <a:spcAft>
                <a:spcPct val="0"/>
              </a:spcAft>
              <a:buClr>
                <a:srgbClr val="727CA3"/>
              </a:buClr>
              <a:buSzPct val="76000"/>
              <a:buFont typeface="Arial" panose="020B0604020202020204" pitchFamily="34" charset="0"/>
              <a:buNone/>
              <a:defRPr/>
            </a:pPr>
            <a:br>
              <a:rPr lang="en-US" sz="7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7600" dirty="0">
              <a:solidFill>
                <a:srgbClr val="59595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8" name="Google Shape;113;g10ee548d508766c7_0">
            <a:extLst>
              <a:ext uri="{FF2B5EF4-FFF2-40B4-BE49-F238E27FC236}">
                <a16:creationId xmlns:a16="http://schemas.microsoft.com/office/drawing/2014/main" id="{2A656569-3A54-6FD2-B2C0-708D70D80E3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255588"/>
            <a:ext cx="65405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Google Shape;114;g10ee548d508766c7_0">
            <a:extLst>
              <a:ext uri="{FF2B5EF4-FFF2-40B4-BE49-F238E27FC236}">
                <a16:creationId xmlns:a16="http://schemas.microsoft.com/office/drawing/2014/main" id="{B7B72EDC-4DEF-14CA-F9EB-8C929889A03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0" y="301625"/>
            <a:ext cx="65405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B0D963-D80B-4851-3A0F-0720FA8DCA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650"/>
          <a:stretch>
            <a:fillRect/>
          </a:stretch>
        </p:blipFill>
        <p:spPr>
          <a:xfrm>
            <a:off x="1346277" y="1010231"/>
            <a:ext cx="6340630" cy="36078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98C51-AC0C-F4E8-D7F0-DC6B9E0A2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276225"/>
            <a:ext cx="8521700" cy="573088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buClr>
                <a:schemeClr val="dk1"/>
              </a:buClr>
              <a:buFont typeface="Arial"/>
              <a:buNone/>
              <a:defRPr/>
            </a:pPr>
            <a:r>
              <a:rPr lang="en-IN" sz="2800" b="1" dirty="0">
                <a:solidFill>
                  <a:srgbClr val="990000"/>
                </a:solidFill>
                <a:sym typeface="Arial"/>
              </a:rPr>
              <a:t>PROPOSED SYSTEM</a:t>
            </a:r>
            <a:endParaRPr lang="en-IN" sz="28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18435" name="Text Placeholder 2">
            <a:extLst>
              <a:ext uri="{FF2B5EF4-FFF2-40B4-BE49-F238E27FC236}">
                <a16:creationId xmlns:a16="http://schemas.microsoft.com/office/drawing/2014/main" id="{F8F8BE6B-D6BD-EE09-5AAB-67199384C16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28663" y="951803"/>
            <a:ext cx="7783551" cy="34163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SkillPath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system uses skill-gap analysis and the A Search Algorithm to identify missing career skills and generate a personalized learning path based on prerequisites and learning requirements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structured learning resources such as notes, videos, practice sets, self-check quizzes , and mini projects.</a:t>
            </a:r>
          </a:p>
          <a:p>
            <a:pPr marL="114300" indent="0" algn="just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Font typeface="Arial" panose="020B0604020202020204" pitchFamily="34" charset="0"/>
              <a:buNone/>
              <a:defRPr/>
            </a:pP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2" name="Google Shape;113;g10ee548d508766c7_0">
            <a:extLst>
              <a:ext uri="{FF2B5EF4-FFF2-40B4-BE49-F238E27FC236}">
                <a16:creationId xmlns:a16="http://schemas.microsoft.com/office/drawing/2014/main" id="{0C7A53A0-D957-7624-64F8-0039BE0374D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255588"/>
            <a:ext cx="65405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Google Shape;114;g10ee548d508766c7_0">
            <a:extLst>
              <a:ext uri="{FF2B5EF4-FFF2-40B4-BE49-F238E27FC236}">
                <a16:creationId xmlns:a16="http://schemas.microsoft.com/office/drawing/2014/main" id="{E2231155-709F-38D3-120C-79C2320BA1E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0" y="301625"/>
            <a:ext cx="65405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AAFA-252B-29AB-5268-B7408D336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276225"/>
            <a:ext cx="8521700" cy="573088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buClr>
                <a:schemeClr val="dk1"/>
              </a:buClr>
              <a:buFont typeface="Arial"/>
              <a:buNone/>
              <a:defRPr/>
            </a:pPr>
            <a:r>
              <a:rPr lang="en-IN" sz="2800" b="1" dirty="0">
                <a:solidFill>
                  <a:srgbClr val="990000"/>
                </a:solidFill>
                <a:sym typeface="Arial"/>
              </a:rPr>
              <a:t>LIST OF MODULES</a:t>
            </a:r>
            <a:endParaRPr lang="en-IN" sz="28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18435" name="Text Placeholder 2">
            <a:extLst>
              <a:ext uri="{FF2B5EF4-FFF2-40B4-BE49-F238E27FC236}">
                <a16:creationId xmlns:a16="http://schemas.microsoft.com/office/drawing/2014/main" id="{F71042FA-5CF0-074E-C272-C7CD01717F0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28663" y="1256603"/>
            <a:ext cx="6761104" cy="2999513"/>
          </a:xfrm>
        </p:spPr>
        <p:txBody>
          <a:bodyPr>
            <a:noAutofit/>
          </a:bodyPr>
          <a:lstStyle/>
          <a:p>
            <a:pPr marL="571500" indent="-457200" algn="just" eaLnBrk="1" hangingPunct="1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Career Selection &amp; Student Profile Module</a:t>
            </a:r>
          </a:p>
          <a:p>
            <a:pPr marL="571500" indent="-457200" algn="just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Assessment &amp; Skill-Gap Analysis Module</a:t>
            </a:r>
          </a:p>
          <a:p>
            <a:pPr marL="571500" indent="-457200" algn="just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A*-Based Personalized Learning Path Module</a:t>
            </a:r>
          </a:p>
          <a:p>
            <a:pPr marL="571500" indent="-457200" algn="just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Learning Resources Module</a:t>
            </a:r>
          </a:p>
          <a:p>
            <a:pPr marL="571500" indent="-457200" algn="just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Progress Tracking Module</a:t>
            </a:r>
          </a:p>
        </p:txBody>
      </p:sp>
      <p:pic>
        <p:nvPicPr>
          <p:cNvPr id="18436" name="Google Shape;113;g10ee548d508766c7_0">
            <a:extLst>
              <a:ext uri="{FF2B5EF4-FFF2-40B4-BE49-F238E27FC236}">
                <a16:creationId xmlns:a16="http://schemas.microsoft.com/office/drawing/2014/main" id="{9EE1AE39-49C2-49E8-16E4-FB6434D39C4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255588"/>
            <a:ext cx="65405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Google Shape;114;g10ee548d508766c7_0">
            <a:extLst>
              <a:ext uri="{FF2B5EF4-FFF2-40B4-BE49-F238E27FC236}">
                <a16:creationId xmlns:a16="http://schemas.microsoft.com/office/drawing/2014/main" id="{2D183CA5-0E9F-DD2D-8ACE-10A3BDDE073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0" y="301625"/>
            <a:ext cx="65405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8644-743E-73C9-3F68-C968D057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276225"/>
            <a:ext cx="8521700" cy="573088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buClr>
                <a:schemeClr val="dk1"/>
              </a:buClr>
              <a:buFont typeface="Arial"/>
              <a:buNone/>
              <a:defRPr/>
            </a:pPr>
            <a:r>
              <a:rPr lang="en-IN" sz="2800" b="1" dirty="0">
                <a:solidFill>
                  <a:srgbClr val="990000"/>
                </a:solidFill>
                <a:sym typeface="Arial"/>
              </a:rPr>
              <a:t>MODULE DESCRIPTION</a:t>
            </a:r>
            <a:br>
              <a:rPr lang="en-IN" sz="2800" dirty="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IN" sz="28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18435" name="Text Placeholder 2">
            <a:extLst>
              <a:ext uri="{FF2B5EF4-FFF2-40B4-BE49-F238E27FC236}">
                <a16:creationId xmlns:a16="http://schemas.microsoft.com/office/drawing/2014/main" id="{61AF4303-96B5-5C96-1BC5-46D1545FBF2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28663" y="1026145"/>
            <a:ext cx="8037396" cy="3416300"/>
          </a:xfrm>
        </p:spPr>
        <p:txBody>
          <a:bodyPr>
            <a:normAutofit/>
          </a:bodyPr>
          <a:lstStyle/>
          <a:p>
            <a:pPr marL="114300" indent="0" eaLnBrk="1" hangingPunct="1"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None/>
              <a:defRPr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1.Career Selection &amp; Student Profile Module: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student details such as name and study hours.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the student to select the desired career.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the required skills for the selected career.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input needed for further skill assessment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eaLnBrk="1" hangingPunct="1"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None/>
              <a:defRPr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460" name="Google Shape;113;g10ee548d508766c7_0">
            <a:extLst>
              <a:ext uri="{FF2B5EF4-FFF2-40B4-BE49-F238E27FC236}">
                <a16:creationId xmlns:a16="http://schemas.microsoft.com/office/drawing/2014/main" id="{97C73C25-E53F-235A-2517-DCDAFD595EA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255588"/>
            <a:ext cx="65405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Google Shape;114;g10ee548d508766c7_0">
            <a:extLst>
              <a:ext uri="{FF2B5EF4-FFF2-40B4-BE49-F238E27FC236}">
                <a16:creationId xmlns:a16="http://schemas.microsoft.com/office/drawing/2014/main" id="{DA3A86A5-4B27-F3F0-87BD-4F070A4EADC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0" y="301625"/>
            <a:ext cx="65405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F07D1-99F7-35DF-8BA0-B1133C86D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276225"/>
            <a:ext cx="8521700" cy="573088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buClr>
                <a:schemeClr val="dk1"/>
              </a:buClr>
              <a:buFont typeface="Arial"/>
              <a:buNone/>
              <a:defRPr/>
            </a:pPr>
            <a:r>
              <a:rPr lang="en-IN" sz="2800" b="1" dirty="0">
                <a:solidFill>
                  <a:srgbClr val="990000"/>
                </a:solidFill>
                <a:sym typeface="Arial"/>
              </a:rPr>
              <a:t>MODULE DESCRIPTION</a:t>
            </a:r>
            <a:br>
              <a:rPr lang="en-IN" sz="2800" dirty="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IN" sz="28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0483" name="Text Placeholder 2">
            <a:extLst>
              <a:ext uri="{FF2B5EF4-FFF2-40B4-BE49-F238E27FC236}">
                <a16:creationId xmlns:a16="http://schemas.microsoft.com/office/drawing/2014/main" id="{3ECF9287-04E8-706D-8BF2-E1176CBEAF4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453580" y="1078183"/>
            <a:ext cx="8236840" cy="3416300"/>
          </a:xfrm>
        </p:spPr>
        <p:txBody>
          <a:bodyPr>
            <a:normAutofit/>
          </a:bodyPr>
          <a:lstStyle/>
          <a:p>
            <a:pPr marL="114300" indent="0" eaLnBrk="1" hangingPunct="1"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None/>
            </a:pPr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400" dirty="0"/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Assessment &amp; Skill-Gap Analysis Module</a:t>
            </a:r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student’s existing skills.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existing skills with the career-required skills.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missing skills or skill gaps.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student’s career readiness percentage</a:t>
            </a:r>
            <a:r>
              <a:rPr lang="en-US" sz="2400" dirty="0"/>
              <a:t>.</a:t>
            </a:r>
          </a:p>
          <a:p>
            <a:pPr marL="114300" indent="0" algn="just" eaLnBrk="1" hangingPunct="1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None/>
            </a:pPr>
            <a:endParaRPr lang="en-I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eaLnBrk="1" hangingPunct="1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Font typeface="Arial" panose="020B0604020202020204" pitchFamily="34" charset="0"/>
              <a:buNone/>
            </a:pPr>
            <a:endParaRPr lang="en-IN" altLang="en-US" sz="19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4" name="Google Shape;113;g10ee548d508766c7_0">
            <a:extLst>
              <a:ext uri="{FF2B5EF4-FFF2-40B4-BE49-F238E27FC236}">
                <a16:creationId xmlns:a16="http://schemas.microsoft.com/office/drawing/2014/main" id="{AFB0DB78-3FA4-914A-117A-8A025B6A7B6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255588"/>
            <a:ext cx="65405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Google Shape;114;g10ee548d508766c7_0">
            <a:extLst>
              <a:ext uri="{FF2B5EF4-FFF2-40B4-BE49-F238E27FC236}">
                <a16:creationId xmlns:a16="http://schemas.microsoft.com/office/drawing/2014/main" id="{3AFE9B2C-4499-0F8E-6EA4-B605C394DBC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0" y="301625"/>
            <a:ext cx="65405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13427-C461-8573-79CA-87D741B89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53960-587F-DB06-5D7D-9E36BE6B0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276225"/>
            <a:ext cx="8521700" cy="573088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buClr>
                <a:schemeClr val="dk1"/>
              </a:buClr>
              <a:buFont typeface="Arial"/>
              <a:buNone/>
              <a:defRPr/>
            </a:pPr>
            <a:r>
              <a:rPr lang="en-IN" sz="2800" b="1" dirty="0">
                <a:solidFill>
                  <a:srgbClr val="990000"/>
                </a:solidFill>
                <a:sym typeface="Arial"/>
              </a:rPr>
              <a:t>MODULE DESCRIPTION</a:t>
            </a:r>
            <a:br>
              <a:rPr lang="en-IN" sz="2800" dirty="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IN" sz="28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0483" name="Text Placeholder 2">
            <a:extLst>
              <a:ext uri="{FF2B5EF4-FFF2-40B4-BE49-F238E27FC236}">
                <a16:creationId xmlns:a16="http://schemas.microsoft.com/office/drawing/2014/main" id="{8B799A97-6DF5-C478-9054-F7C32654C72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453580" y="1078183"/>
            <a:ext cx="8236840" cy="3416300"/>
          </a:xfrm>
        </p:spPr>
        <p:txBody>
          <a:bodyPr>
            <a:normAutofit fontScale="92500"/>
          </a:bodyPr>
          <a:lstStyle/>
          <a:p>
            <a:pPr marL="114300" indent="0" eaLnBrk="1" hangingPunct="1"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None/>
            </a:pPr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2400" dirty="0"/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A*-Based Personalized Learning Path Module</a:t>
            </a:r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the identified skill gaps as input. </a:t>
            </a:r>
          </a:p>
          <a:p>
            <a:pPr lvl="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Considers skill prerequisites and learning cost. </a:t>
            </a:r>
          </a:p>
          <a:p>
            <a:pPr lvl="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A Search Algorithm* to find an optimized learning sequence. </a:t>
            </a:r>
          </a:p>
          <a:p>
            <a:pPr lvl="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personalized path from current skills to career-required skills</a:t>
            </a:r>
          </a:p>
          <a:p>
            <a:pPr marL="114300" lvl="0" indent="0">
              <a:lnSpc>
                <a:spcPct val="160000"/>
              </a:lnSpc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 eaLnBrk="1" hangingPunct="1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None/>
            </a:pPr>
            <a:endParaRPr lang="en-I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eaLnBrk="1" hangingPunct="1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Font typeface="Arial" panose="020B0604020202020204" pitchFamily="34" charset="0"/>
              <a:buNone/>
            </a:pPr>
            <a:endParaRPr lang="en-IN" altLang="en-US" sz="19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4" name="Google Shape;113;g10ee548d508766c7_0">
            <a:extLst>
              <a:ext uri="{FF2B5EF4-FFF2-40B4-BE49-F238E27FC236}">
                <a16:creationId xmlns:a16="http://schemas.microsoft.com/office/drawing/2014/main" id="{9968E9D1-E2CE-D116-910E-E3EC42E9E1F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255588"/>
            <a:ext cx="65405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Google Shape;114;g10ee548d508766c7_0">
            <a:extLst>
              <a:ext uri="{FF2B5EF4-FFF2-40B4-BE49-F238E27FC236}">
                <a16:creationId xmlns:a16="http://schemas.microsoft.com/office/drawing/2014/main" id="{11EE9D09-7073-AE72-9D2B-24C6A949232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0" y="301625"/>
            <a:ext cx="65405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0600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19C0A-B48C-2644-6410-19E1A7D31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3A591-B68E-C86C-A91D-A0157E424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276225"/>
            <a:ext cx="8521700" cy="573088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buClr>
                <a:schemeClr val="dk1"/>
              </a:buClr>
              <a:buFont typeface="Arial"/>
              <a:buNone/>
              <a:defRPr/>
            </a:pPr>
            <a:r>
              <a:rPr lang="en-IN" sz="2800" b="1" dirty="0">
                <a:solidFill>
                  <a:srgbClr val="990000"/>
                </a:solidFill>
                <a:sym typeface="Arial"/>
              </a:rPr>
              <a:t>MODULE DESCRIPTION</a:t>
            </a:r>
            <a:br>
              <a:rPr lang="en-IN" sz="2800" dirty="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IN" sz="28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0483" name="Text Placeholder 2">
            <a:extLst>
              <a:ext uri="{FF2B5EF4-FFF2-40B4-BE49-F238E27FC236}">
                <a16:creationId xmlns:a16="http://schemas.microsoft.com/office/drawing/2014/main" id="{A045892A-F24D-0775-16C5-9D5E400132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453580" y="1078183"/>
            <a:ext cx="8236840" cy="3416300"/>
          </a:xfrm>
        </p:spPr>
        <p:txBody>
          <a:bodyPr>
            <a:normAutofit/>
          </a:bodyPr>
          <a:lstStyle/>
          <a:p>
            <a:pPr marL="114300" indent="0" eaLnBrk="1" hangingPunct="1"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None/>
            </a:pPr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2400" dirty="0"/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Learning Resources Module</a:t>
            </a:r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learning materials for each required skill.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Complete Notes and Video Learning Guides.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Mini Projects for practical skill development</a:t>
            </a:r>
            <a:r>
              <a:rPr lang="en-US" sz="2400" dirty="0"/>
              <a:t>.</a:t>
            </a:r>
          </a:p>
          <a:p>
            <a:pPr marL="114300" indent="0" algn="just" eaLnBrk="1" hangingPunct="1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None/>
            </a:pPr>
            <a:endParaRPr lang="en-I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eaLnBrk="1" hangingPunct="1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Font typeface="Arial" panose="020B0604020202020204" pitchFamily="34" charset="0"/>
              <a:buNone/>
            </a:pPr>
            <a:endParaRPr lang="en-IN" altLang="en-US" sz="19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4" name="Google Shape;113;g10ee548d508766c7_0">
            <a:extLst>
              <a:ext uri="{FF2B5EF4-FFF2-40B4-BE49-F238E27FC236}">
                <a16:creationId xmlns:a16="http://schemas.microsoft.com/office/drawing/2014/main" id="{72520EA1-6450-4180-5435-D3ADBAB8FBC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255588"/>
            <a:ext cx="65405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Google Shape;114;g10ee548d508766c7_0">
            <a:extLst>
              <a:ext uri="{FF2B5EF4-FFF2-40B4-BE49-F238E27FC236}">
                <a16:creationId xmlns:a16="http://schemas.microsoft.com/office/drawing/2014/main" id="{B024099A-6794-7E7E-8A29-70DD962F69E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0" y="301625"/>
            <a:ext cx="65405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678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C3AD1-595B-7D3C-B4F2-562FC31BA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E7393-5162-F60B-4542-92ADE8DB2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276225"/>
            <a:ext cx="8521700" cy="573088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buClr>
                <a:schemeClr val="dk1"/>
              </a:buClr>
              <a:buFont typeface="Arial"/>
              <a:buNone/>
              <a:defRPr/>
            </a:pPr>
            <a:r>
              <a:rPr lang="en-IN" sz="2800" b="1" dirty="0">
                <a:solidFill>
                  <a:srgbClr val="990000"/>
                </a:solidFill>
                <a:sym typeface="Arial"/>
              </a:rPr>
              <a:t>MODULE DESCRIPTION</a:t>
            </a:r>
            <a:br>
              <a:rPr lang="en-IN" sz="2800" dirty="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IN" sz="28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0483" name="Text Placeholder 2">
            <a:extLst>
              <a:ext uri="{FF2B5EF4-FFF2-40B4-BE49-F238E27FC236}">
                <a16:creationId xmlns:a16="http://schemas.microsoft.com/office/drawing/2014/main" id="{929249DC-EFA4-850D-1BE6-AF0F176ED71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453580" y="1078183"/>
            <a:ext cx="8236840" cy="3416300"/>
          </a:xfrm>
        </p:spPr>
        <p:txBody>
          <a:bodyPr>
            <a:normAutofit/>
          </a:bodyPr>
          <a:lstStyle/>
          <a:p>
            <a:pPr marL="114300" indent="0" eaLnBrk="1" hangingPunct="1"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None/>
            </a:pPr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sz="2400" dirty="0"/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Progress Tracking Module</a:t>
            </a:r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students to mark completed skills.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the student’s learning progress.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and displays the progress percentage.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monitor their progress towards career readiness.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Font typeface="Wingdings" panose="05000000000000000000" pitchFamily="2" charset="2"/>
              <a:buChar char="Ø"/>
            </a:pPr>
            <a:endParaRPr lang="en-IN" altLang="en-US" sz="19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4" name="Google Shape;113;g10ee548d508766c7_0">
            <a:extLst>
              <a:ext uri="{FF2B5EF4-FFF2-40B4-BE49-F238E27FC236}">
                <a16:creationId xmlns:a16="http://schemas.microsoft.com/office/drawing/2014/main" id="{8769BCD5-C1B8-73C0-1990-2FAC71A7B34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255588"/>
            <a:ext cx="65405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Google Shape;114;g10ee548d508766c7_0">
            <a:extLst>
              <a:ext uri="{FF2B5EF4-FFF2-40B4-BE49-F238E27FC236}">
                <a16:creationId xmlns:a16="http://schemas.microsoft.com/office/drawing/2014/main" id="{561A83CB-7FC5-FD11-2CA8-8591716D195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0" y="301625"/>
            <a:ext cx="65405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4804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9E5D6-F0BF-C651-6A74-D047134A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2A2EF-4E54-D4D7-21E3-3E4EC4A4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276225"/>
            <a:ext cx="8521700" cy="573088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buClr>
                <a:schemeClr val="dk1"/>
              </a:buClr>
              <a:buFont typeface="Arial"/>
              <a:buNone/>
              <a:defRPr/>
            </a:pPr>
            <a:r>
              <a:rPr lang="en-IN" sz="2800" b="1" dirty="0">
                <a:solidFill>
                  <a:srgbClr val="990000"/>
                </a:solidFill>
                <a:sym typeface="Arial"/>
              </a:rPr>
              <a:t>IMPLEMENTATION OF PROPOSED SYSTEM</a:t>
            </a:r>
            <a:br>
              <a:rPr lang="en-IN" sz="2800" dirty="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IN" sz="28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0483" name="Text Placeholder 2">
            <a:extLst>
              <a:ext uri="{FF2B5EF4-FFF2-40B4-BE49-F238E27FC236}">
                <a16:creationId xmlns:a16="http://schemas.microsoft.com/office/drawing/2014/main" id="{21160A6F-BCFA-F8AB-9734-7C8C66357DD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453580" y="879677"/>
            <a:ext cx="8236840" cy="3987598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4" name="Google Shape;113;g10ee548d508766c7_0">
            <a:extLst>
              <a:ext uri="{FF2B5EF4-FFF2-40B4-BE49-F238E27FC236}">
                <a16:creationId xmlns:a16="http://schemas.microsoft.com/office/drawing/2014/main" id="{1A0107D2-B0C3-ED88-6001-8070EB0788A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255588"/>
            <a:ext cx="65405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Google Shape;114;g10ee548d508766c7_0">
            <a:extLst>
              <a:ext uri="{FF2B5EF4-FFF2-40B4-BE49-F238E27FC236}">
                <a16:creationId xmlns:a16="http://schemas.microsoft.com/office/drawing/2014/main" id="{BAD7B20A-4757-1399-A4DE-E507CC10378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0" y="301625"/>
            <a:ext cx="65405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C5E8CC-0CD5-46CF-E255-348BE0B0A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11" y="987504"/>
            <a:ext cx="8080026" cy="296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601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94EA8-DCAE-EB17-F771-3BEE9BBF1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95EC6-8B01-015B-B481-12354F28A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276225"/>
            <a:ext cx="8521700" cy="573088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buClr>
                <a:schemeClr val="dk1"/>
              </a:buClr>
              <a:buFont typeface="Arial"/>
              <a:buNone/>
              <a:defRPr/>
            </a:pPr>
            <a:r>
              <a:rPr lang="en-IN" sz="2800" b="1" dirty="0">
                <a:solidFill>
                  <a:srgbClr val="990000"/>
                </a:solidFill>
                <a:sym typeface="Arial"/>
              </a:rPr>
              <a:t>IMPLEMENTATION OF PROPOSED SYSTEM</a:t>
            </a:r>
            <a:br>
              <a:rPr lang="en-IN" sz="2800" dirty="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IN" sz="28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0483" name="Text Placeholder 2">
            <a:extLst>
              <a:ext uri="{FF2B5EF4-FFF2-40B4-BE49-F238E27FC236}">
                <a16:creationId xmlns:a16="http://schemas.microsoft.com/office/drawing/2014/main" id="{E2EAF21E-7103-C070-5F6F-3C55072C5C9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453580" y="879677"/>
            <a:ext cx="8236840" cy="3987598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4" name="Google Shape;113;g10ee548d508766c7_0">
            <a:extLst>
              <a:ext uri="{FF2B5EF4-FFF2-40B4-BE49-F238E27FC236}">
                <a16:creationId xmlns:a16="http://schemas.microsoft.com/office/drawing/2014/main" id="{0241A5C6-2CB3-2961-B569-1799DFAF089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255588"/>
            <a:ext cx="65405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Google Shape;114;g10ee548d508766c7_0">
            <a:extLst>
              <a:ext uri="{FF2B5EF4-FFF2-40B4-BE49-F238E27FC236}">
                <a16:creationId xmlns:a16="http://schemas.microsoft.com/office/drawing/2014/main" id="{41D0B0EB-EDFA-F7DD-A31C-B01D0402E86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0" y="301625"/>
            <a:ext cx="65405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F20C9D-8C61-1EB0-3BEA-2946D6F03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22" y="1007277"/>
            <a:ext cx="8054798" cy="359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976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FC164-75EA-C669-0870-A1CC792CD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2D549-CA71-E172-6129-B79641240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276225"/>
            <a:ext cx="8521700" cy="573088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buClr>
                <a:schemeClr val="dk1"/>
              </a:buClr>
              <a:buFont typeface="Arial"/>
              <a:buNone/>
              <a:defRPr/>
            </a:pPr>
            <a:r>
              <a:rPr lang="en-IN" sz="2800" b="1" dirty="0">
                <a:solidFill>
                  <a:srgbClr val="990000"/>
                </a:solidFill>
                <a:sym typeface="Arial"/>
              </a:rPr>
              <a:t>IMPLEMENTATION OF PROPOSED SYSTEM</a:t>
            </a:r>
            <a:br>
              <a:rPr lang="en-IN" sz="2800" dirty="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IN" sz="28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0483" name="Text Placeholder 2">
            <a:extLst>
              <a:ext uri="{FF2B5EF4-FFF2-40B4-BE49-F238E27FC236}">
                <a16:creationId xmlns:a16="http://schemas.microsoft.com/office/drawing/2014/main" id="{6A0A4154-74F1-B1D5-20AC-7AAFFC9FC0D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453580" y="879677"/>
            <a:ext cx="8236840" cy="3987598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4" name="Google Shape;113;g10ee548d508766c7_0">
            <a:extLst>
              <a:ext uri="{FF2B5EF4-FFF2-40B4-BE49-F238E27FC236}">
                <a16:creationId xmlns:a16="http://schemas.microsoft.com/office/drawing/2014/main" id="{E91DAFA2-16FA-CE48-4483-A7510831E95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255588"/>
            <a:ext cx="65405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Google Shape;114;g10ee548d508766c7_0">
            <a:extLst>
              <a:ext uri="{FF2B5EF4-FFF2-40B4-BE49-F238E27FC236}">
                <a16:creationId xmlns:a16="http://schemas.microsoft.com/office/drawing/2014/main" id="{4C82DC68-5DEE-036D-A7B2-E7814D0DC4B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0" y="301625"/>
            <a:ext cx="65405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01980B-13DC-0DA9-8973-C99E24FD5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407" y="1009393"/>
            <a:ext cx="8145013" cy="333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68FB8-5787-3D95-F484-367DF5FE2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6514B-1075-DEB6-7E16-A502B12F5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276225"/>
            <a:ext cx="8521700" cy="573088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buClr>
                <a:schemeClr val="dk1"/>
              </a:buClr>
              <a:buFont typeface="Arial"/>
              <a:buNone/>
              <a:defRPr/>
            </a:pPr>
            <a:r>
              <a:rPr lang="en-IN" sz="2800" b="1" dirty="0">
                <a:solidFill>
                  <a:srgbClr val="990000"/>
                </a:solidFill>
                <a:sym typeface="Arial"/>
              </a:rPr>
              <a:t>CONCLUSION</a:t>
            </a:r>
            <a:br>
              <a:rPr lang="en-IN" sz="2800" dirty="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IN" sz="28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0483" name="Text Placeholder 2">
            <a:extLst>
              <a:ext uri="{FF2B5EF4-FFF2-40B4-BE49-F238E27FC236}">
                <a16:creationId xmlns:a16="http://schemas.microsoft.com/office/drawing/2014/main" id="{8D83C48C-4DEC-4DDC-F01E-35E8CF5034F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453580" y="1078183"/>
            <a:ext cx="8236840" cy="3416300"/>
          </a:xfrm>
        </p:spPr>
        <p:txBody>
          <a:bodyPr>
            <a:normAutofit/>
          </a:bodyPr>
          <a:lstStyle/>
          <a:p>
            <a:pPr marL="114300" indent="0" eaLnBrk="1" hangingPunct="1"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None/>
            </a:pPr>
            <a:endParaRPr lang="en-US" sz="2000" b="1" dirty="0"/>
          </a:p>
          <a:p>
            <a:pPr marL="114300" indent="0" algn="just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SkillPath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provides a personalized learning path by identifying skill gaps and using the A* Search Algorithm. It helps students learn required skills systematically and track their progress towards career readiness.</a:t>
            </a:r>
            <a:endParaRPr lang="en-IN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4" name="Google Shape;113;g10ee548d508766c7_0">
            <a:extLst>
              <a:ext uri="{FF2B5EF4-FFF2-40B4-BE49-F238E27FC236}">
                <a16:creationId xmlns:a16="http://schemas.microsoft.com/office/drawing/2014/main" id="{7094CC44-CDED-B963-1B4C-FC19373B355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255588"/>
            <a:ext cx="65405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Google Shape;114;g10ee548d508766c7_0">
            <a:extLst>
              <a:ext uri="{FF2B5EF4-FFF2-40B4-BE49-F238E27FC236}">
                <a16:creationId xmlns:a16="http://schemas.microsoft.com/office/drawing/2014/main" id="{28827FDF-46BF-4062-1CF4-1A7674D42A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0" y="301625"/>
            <a:ext cx="65405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802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Google Shape;184;p13">
            <a:extLst>
              <a:ext uri="{FF2B5EF4-FFF2-40B4-BE49-F238E27FC236}">
                <a16:creationId xmlns:a16="http://schemas.microsoft.com/office/drawing/2014/main" id="{582532C6-EB0E-CCC4-D590-7F28D22D9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1835150"/>
            <a:ext cx="90678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4400"/>
            </a:pPr>
            <a:r>
              <a:rPr lang="en-US" altLang="en-US" sz="4400" b="1" i="1">
                <a:solidFill>
                  <a:srgbClr val="85200C"/>
                </a:solidFill>
              </a:rPr>
              <a:t>THANK YOU !!!</a:t>
            </a:r>
            <a:endParaRPr lang="en-US" altLang="en-US" sz="2400" b="1" i="1">
              <a:solidFill>
                <a:srgbClr val="85200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521</Words>
  <Application>Microsoft Office PowerPoint</Application>
  <PresentationFormat>On-screen Show (16:9)</PresentationFormat>
  <Paragraphs>79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Simple Light</vt:lpstr>
      <vt:lpstr>PowerPoint Presentation</vt:lpstr>
      <vt:lpstr>PowerPoint Presentation</vt:lpstr>
      <vt:lpstr>OBJECTIVE</vt:lpstr>
      <vt:lpstr>PowerPoint Presentation</vt:lpstr>
      <vt:lpstr>PowerPoint Presentation</vt:lpstr>
      <vt:lpstr>SYSTEM ARCHITECTURE</vt:lpstr>
      <vt:lpstr>PROPOSED SYSTEM</vt:lpstr>
      <vt:lpstr>LIST OF MODULES</vt:lpstr>
      <vt:lpstr>MODULE DESCRIPTION </vt:lpstr>
      <vt:lpstr>MODULE DESCRIPTION </vt:lpstr>
      <vt:lpstr>MODULE DESCRIPTION </vt:lpstr>
      <vt:lpstr>MODULE DESCRIPTION </vt:lpstr>
      <vt:lpstr>MODULE DESCRIPTION </vt:lpstr>
      <vt:lpstr>IMPLEMENTATION OF PROPOSED SYSTEM </vt:lpstr>
      <vt:lpstr>IMPLEMENTATION OF PROPOSED SYSTEM </vt:lpstr>
      <vt:lpstr>IMPLEMENTATION OF PROPOSED SYSTEM 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Roshan Joshua</dc:creator>
  <cp:lastModifiedBy>Saranya G</cp:lastModifiedBy>
  <cp:revision>31</cp:revision>
  <dcterms:modified xsi:type="dcterms:W3CDTF">2026-10-05T01:34:00Z</dcterms:modified>
</cp:coreProperties>
</file>